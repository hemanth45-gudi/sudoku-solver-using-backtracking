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0" r:id="rId4"/>
    <p:sldId id="261" r:id="rId5"/>
    <p:sldId id="262" r:id="rId6"/>
    <p:sldId id="263" r:id="rId7"/>
    <p:sldId id="264" r:id="rId8"/>
    <p:sldId id="265"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46C001-2C4A-4A9B-9ACA-99B92D71A531}" v="29" dt="2024-09-10T17:55:50.2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p:scale>
          <a:sx n="66" d="100"/>
          <a:sy n="66" d="100"/>
        </p:scale>
        <p:origin x="1095"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shith gurram" userId="8d617bbe6533dbc7" providerId="LiveId" clId="{7C46C001-2C4A-4A9B-9ACA-99B92D71A531}"/>
    <pc:docChg chg="custSel modSld">
      <pc:chgData name="nikshith gurram" userId="8d617bbe6533dbc7" providerId="LiveId" clId="{7C46C001-2C4A-4A9B-9ACA-99B92D71A531}" dt="2024-09-10T17:59:35.206" v="126" actId="255"/>
      <pc:docMkLst>
        <pc:docMk/>
      </pc:docMkLst>
      <pc:sldChg chg="modTransition">
        <pc:chgData name="nikshith gurram" userId="8d617bbe6533dbc7" providerId="LiveId" clId="{7C46C001-2C4A-4A9B-9ACA-99B92D71A531}" dt="2024-09-10T17:55:05.318" v="70"/>
        <pc:sldMkLst>
          <pc:docMk/>
          <pc:sldMk cId="1295960897" sldId="256"/>
        </pc:sldMkLst>
      </pc:sldChg>
      <pc:sldChg chg="modSp mod modTransition">
        <pc:chgData name="nikshith gurram" userId="8d617bbe6533dbc7" providerId="LiveId" clId="{7C46C001-2C4A-4A9B-9ACA-99B92D71A531}" dt="2024-09-10T17:55:13.208" v="72"/>
        <pc:sldMkLst>
          <pc:docMk/>
          <pc:sldMk cId="1736048719" sldId="259"/>
        </pc:sldMkLst>
        <pc:spChg chg="mod">
          <ac:chgData name="nikshith gurram" userId="8d617bbe6533dbc7" providerId="LiveId" clId="{7C46C001-2C4A-4A9B-9ACA-99B92D71A531}" dt="2024-09-10T17:49:34.917" v="10" actId="2711"/>
          <ac:spMkLst>
            <pc:docMk/>
            <pc:sldMk cId="1736048719" sldId="259"/>
            <ac:spMk id="2" creationId="{9DE0C18C-2CD3-C77F-B134-0F91B0611000}"/>
          </ac:spMkLst>
        </pc:spChg>
        <pc:spChg chg="mod">
          <ac:chgData name="nikshith gurram" userId="8d617bbe6533dbc7" providerId="LiveId" clId="{7C46C001-2C4A-4A9B-9ACA-99B92D71A531}" dt="2024-09-10T17:48:43.168" v="2" actId="20577"/>
          <ac:spMkLst>
            <pc:docMk/>
            <pc:sldMk cId="1736048719" sldId="259"/>
            <ac:spMk id="3" creationId="{E81FEF43-208F-FD81-5123-635822A61197}"/>
          </ac:spMkLst>
        </pc:spChg>
      </pc:sldChg>
      <pc:sldChg chg="modSp mod modTransition">
        <pc:chgData name="nikshith gurram" userId="8d617bbe6533dbc7" providerId="LiveId" clId="{7C46C001-2C4A-4A9B-9ACA-99B92D71A531}" dt="2024-09-10T17:55:17.425" v="73"/>
        <pc:sldMkLst>
          <pc:docMk/>
          <pc:sldMk cId="3658157404" sldId="260"/>
        </pc:sldMkLst>
        <pc:spChg chg="mod">
          <ac:chgData name="nikshith gurram" userId="8d617bbe6533dbc7" providerId="LiveId" clId="{7C46C001-2C4A-4A9B-9ACA-99B92D71A531}" dt="2024-09-10T17:48:58.964" v="5" actId="115"/>
          <ac:spMkLst>
            <pc:docMk/>
            <pc:sldMk cId="3658157404" sldId="260"/>
            <ac:spMk id="2" creationId="{9DE0C18C-2CD3-C77F-B134-0F91B0611000}"/>
          </ac:spMkLst>
        </pc:spChg>
      </pc:sldChg>
      <pc:sldChg chg="modSp mod modTransition">
        <pc:chgData name="nikshith gurram" userId="8d617bbe6533dbc7" providerId="LiveId" clId="{7C46C001-2C4A-4A9B-9ACA-99B92D71A531}" dt="2024-09-10T17:55:20.722" v="74"/>
        <pc:sldMkLst>
          <pc:docMk/>
          <pc:sldMk cId="3891284511" sldId="261"/>
        </pc:sldMkLst>
        <pc:spChg chg="mod">
          <ac:chgData name="nikshith gurram" userId="8d617bbe6533dbc7" providerId="LiveId" clId="{7C46C001-2C4A-4A9B-9ACA-99B92D71A531}" dt="2024-09-10T17:50:03.092" v="15" actId="255"/>
          <ac:spMkLst>
            <pc:docMk/>
            <pc:sldMk cId="3891284511" sldId="261"/>
            <ac:spMk id="2" creationId="{9DE0C18C-2CD3-C77F-B134-0F91B0611000}"/>
          </ac:spMkLst>
        </pc:spChg>
      </pc:sldChg>
      <pc:sldChg chg="modSp mod modTransition">
        <pc:chgData name="nikshith gurram" userId="8d617bbe6533dbc7" providerId="LiveId" clId="{7C46C001-2C4A-4A9B-9ACA-99B92D71A531}" dt="2024-09-10T17:55:31.723" v="79"/>
        <pc:sldMkLst>
          <pc:docMk/>
          <pc:sldMk cId="1858452693" sldId="262"/>
        </pc:sldMkLst>
        <pc:spChg chg="mod">
          <ac:chgData name="nikshith gurram" userId="8d617bbe6533dbc7" providerId="LiveId" clId="{7C46C001-2C4A-4A9B-9ACA-99B92D71A531}" dt="2024-09-10T17:50:21.558" v="19" actId="115"/>
          <ac:spMkLst>
            <pc:docMk/>
            <pc:sldMk cId="1858452693" sldId="262"/>
            <ac:spMk id="2" creationId="{9DE0C18C-2CD3-C77F-B134-0F91B0611000}"/>
          </ac:spMkLst>
        </pc:spChg>
      </pc:sldChg>
      <pc:sldChg chg="modSp mod modTransition">
        <pc:chgData name="nikshith gurram" userId="8d617bbe6533dbc7" providerId="LiveId" clId="{7C46C001-2C4A-4A9B-9ACA-99B92D71A531}" dt="2024-09-10T17:55:35.860" v="80"/>
        <pc:sldMkLst>
          <pc:docMk/>
          <pc:sldMk cId="3590416021" sldId="263"/>
        </pc:sldMkLst>
        <pc:spChg chg="mod">
          <ac:chgData name="nikshith gurram" userId="8d617bbe6533dbc7" providerId="LiveId" clId="{7C46C001-2C4A-4A9B-9ACA-99B92D71A531}" dt="2024-09-10T17:50:34.775" v="23" actId="115"/>
          <ac:spMkLst>
            <pc:docMk/>
            <pc:sldMk cId="3590416021" sldId="263"/>
            <ac:spMk id="2" creationId="{9DE0C18C-2CD3-C77F-B134-0F91B0611000}"/>
          </ac:spMkLst>
        </pc:spChg>
      </pc:sldChg>
      <pc:sldChg chg="addSp modSp mod modTransition">
        <pc:chgData name="nikshith gurram" userId="8d617bbe6533dbc7" providerId="LiveId" clId="{7C46C001-2C4A-4A9B-9ACA-99B92D71A531}" dt="2024-09-10T17:59:35.206" v="126" actId="255"/>
        <pc:sldMkLst>
          <pc:docMk/>
          <pc:sldMk cId="2834346138" sldId="264"/>
        </pc:sldMkLst>
        <pc:spChg chg="mod">
          <ac:chgData name="nikshith gurram" userId="8d617bbe6533dbc7" providerId="LiveId" clId="{7C46C001-2C4A-4A9B-9ACA-99B92D71A531}" dt="2024-09-10T17:50:58.943" v="25" actId="2711"/>
          <ac:spMkLst>
            <pc:docMk/>
            <pc:sldMk cId="2834346138" sldId="264"/>
            <ac:spMk id="5" creationId="{EAB56053-50A0-8A04-B7B8-F00C89E51573}"/>
          </ac:spMkLst>
        </pc:spChg>
        <pc:spChg chg="mod">
          <ac:chgData name="nikshith gurram" userId="8d617bbe6533dbc7" providerId="LiveId" clId="{7C46C001-2C4A-4A9B-9ACA-99B92D71A531}" dt="2024-09-10T17:51:08.628" v="27" actId="2711"/>
          <ac:spMkLst>
            <pc:docMk/>
            <pc:sldMk cId="2834346138" sldId="264"/>
            <ac:spMk id="7" creationId="{62D84D01-1F42-6121-B889-FB549C274BB8}"/>
          </ac:spMkLst>
        </pc:spChg>
        <pc:spChg chg="add mod">
          <ac:chgData name="nikshith gurram" userId="8d617bbe6533dbc7" providerId="LiveId" clId="{7C46C001-2C4A-4A9B-9ACA-99B92D71A531}" dt="2024-09-10T17:59:35.206" v="126" actId="255"/>
          <ac:spMkLst>
            <pc:docMk/>
            <pc:sldMk cId="2834346138" sldId="264"/>
            <ac:spMk id="9" creationId="{3DE70478-4B70-1843-7CCE-90C92B10A4C0}"/>
          </ac:spMkLst>
        </pc:spChg>
      </pc:sldChg>
      <pc:sldChg chg="modSp mod modTransition">
        <pc:chgData name="nikshith gurram" userId="8d617bbe6533dbc7" providerId="LiveId" clId="{7C46C001-2C4A-4A9B-9ACA-99B92D71A531}" dt="2024-09-10T17:55:41.860" v="82"/>
        <pc:sldMkLst>
          <pc:docMk/>
          <pc:sldMk cId="3389584535" sldId="265"/>
        </pc:sldMkLst>
        <pc:spChg chg="mod">
          <ac:chgData name="nikshith gurram" userId="8d617bbe6533dbc7" providerId="LiveId" clId="{7C46C001-2C4A-4A9B-9ACA-99B92D71A531}" dt="2024-09-10T17:52:38.874" v="31" actId="20577"/>
          <ac:spMkLst>
            <pc:docMk/>
            <pc:sldMk cId="3389584535" sldId="265"/>
            <ac:spMk id="5" creationId="{EAB56053-50A0-8A04-B7B8-F00C89E51573}"/>
          </ac:spMkLst>
        </pc:spChg>
        <pc:spChg chg="mod">
          <ac:chgData name="nikshith gurram" userId="8d617bbe6533dbc7" providerId="LiveId" clId="{7C46C001-2C4A-4A9B-9ACA-99B92D71A531}" dt="2024-09-10T17:53:05.317" v="45" actId="27636"/>
          <ac:spMkLst>
            <pc:docMk/>
            <pc:sldMk cId="3389584535" sldId="265"/>
            <ac:spMk id="7" creationId="{62D84D01-1F42-6121-B889-FB549C274BB8}"/>
          </ac:spMkLst>
        </pc:spChg>
      </pc:sldChg>
      <pc:sldChg chg="modSp mod modTransition">
        <pc:chgData name="nikshith gurram" userId="8d617bbe6533dbc7" providerId="LiveId" clId="{7C46C001-2C4A-4A9B-9ACA-99B92D71A531}" dt="2024-09-10T17:55:44.482" v="83"/>
        <pc:sldMkLst>
          <pc:docMk/>
          <pc:sldMk cId="2669987501" sldId="267"/>
        </pc:sldMkLst>
        <pc:spChg chg="mod">
          <ac:chgData name="nikshith gurram" userId="8d617bbe6533dbc7" providerId="LiveId" clId="{7C46C001-2C4A-4A9B-9ACA-99B92D71A531}" dt="2024-09-10T17:53:41.213" v="47" actId="255"/>
          <ac:spMkLst>
            <pc:docMk/>
            <pc:sldMk cId="2669987501" sldId="267"/>
            <ac:spMk id="5" creationId="{EAB56053-50A0-8A04-B7B8-F00C89E51573}"/>
          </ac:spMkLst>
        </pc:spChg>
        <pc:spChg chg="mod">
          <ac:chgData name="nikshith gurram" userId="8d617bbe6533dbc7" providerId="LiveId" clId="{7C46C001-2C4A-4A9B-9ACA-99B92D71A531}" dt="2024-09-10T17:54:11.478" v="56" actId="20577"/>
          <ac:spMkLst>
            <pc:docMk/>
            <pc:sldMk cId="2669987501" sldId="267"/>
            <ac:spMk id="7" creationId="{62D84D01-1F42-6121-B889-FB549C274BB8}"/>
          </ac:spMkLst>
        </pc:spChg>
      </pc:sldChg>
      <pc:sldChg chg="modTransition">
        <pc:chgData name="nikshith gurram" userId="8d617bbe6533dbc7" providerId="LiveId" clId="{7C46C001-2C4A-4A9B-9ACA-99B92D71A531}" dt="2024-09-10T17:55:50.281" v="85"/>
        <pc:sldMkLst>
          <pc:docMk/>
          <pc:sldMk cId="3580135582" sldId="268"/>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6558704-8148-45F5-9D1A-F5F68EEFA698}" type="datetimeFigureOut">
              <a:rPr lang="en-IN" smtClean="0"/>
              <a:t>10-09-2024</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088634CC-0925-40DC-887E-BFFC0FAADE4A}" type="slidenum">
              <a:rPr lang="en-IN" smtClean="0"/>
              <a:t>‹#›</a:t>
            </a:fld>
            <a:endParaRPr lang="en-IN"/>
          </a:p>
        </p:txBody>
      </p:sp>
    </p:spTree>
    <p:extLst>
      <p:ext uri="{BB962C8B-B14F-4D97-AF65-F5344CB8AC3E}">
        <p14:creationId xmlns:p14="http://schemas.microsoft.com/office/powerpoint/2010/main" val="67954884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558704-8148-45F5-9D1A-F5F68EEFA698}" type="datetimeFigureOut">
              <a:rPr lang="en-IN" smtClean="0"/>
              <a:t>10-09-2024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1819924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6558704-8148-45F5-9D1A-F5F68EEFA698}" type="datetimeFigureOut">
              <a:rPr lang="en-IN" smtClean="0"/>
              <a:t>10-09-2024</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29519523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558704-8148-45F5-9D1A-F5F68EEFA698}" type="datetimeFigureOut">
              <a:rPr lang="en-IN" smtClean="0"/>
              <a:t>10-09-2024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2512633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558704-8148-45F5-9D1A-F5F68EEFA698}" type="datetimeFigureOut">
              <a:rPr lang="en-IN" smtClean="0"/>
              <a:t>10-09-2024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1716217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558704-8148-45F5-9D1A-F5F68EEFA698}" type="datetimeFigureOut">
              <a:rPr lang="en-IN" smtClean="0"/>
              <a:t>10-09-2024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2572100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558704-8148-45F5-9D1A-F5F68EEFA698}" type="datetimeFigureOut">
              <a:rPr lang="en-IN" smtClean="0"/>
              <a:t>10-09-2024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597213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6558704-8148-45F5-9D1A-F5F68EEFA698}" type="datetimeFigureOut">
              <a:rPr lang="en-IN" smtClean="0"/>
              <a:t>10-09-2024</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088634CC-0925-40DC-887E-BFFC0FAADE4A}"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73408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6558704-8148-45F5-9D1A-F5F68EEFA698}" type="datetimeFigureOut">
              <a:rPr lang="en-IN" smtClean="0"/>
              <a:t>10-09-2024</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088634CC-0925-40DC-887E-BFFC0FAADE4A}"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83710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558704-8148-45F5-9D1A-F5F68EEFA698}" type="datetimeFigureOut">
              <a:rPr lang="en-IN" smtClean="0"/>
              <a:t>10-09-2024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1867636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558704-8148-45F5-9D1A-F5F68EEFA698}" type="datetimeFigureOut">
              <a:rPr lang="en-IN" smtClean="0"/>
              <a:t>10-09-2024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8634CC-0925-40DC-887E-BFFC0FAADE4A}" type="slidenum">
              <a:rPr lang="en-IN" smtClean="0"/>
              <a:t>‹#›</a:t>
            </a:fld>
            <a:endParaRPr lang="en-IN"/>
          </a:p>
        </p:txBody>
      </p:sp>
    </p:spTree>
    <p:extLst>
      <p:ext uri="{BB962C8B-B14F-4D97-AF65-F5344CB8AC3E}">
        <p14:creationId xmlns:p14="http://schemas.microsoft.com/office/powerpoint/2010/main" val="2296328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6558704-8148-45F5-9D1A-F5F68EEFA698}" type="datetimeFigureOut">
              <a:rPr lang="en-IN" smtClean="0"/>
              <a:t>10-09-2024</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88634CC-0925-40DC-887E-BFFC0FAADE4A}" type="slidenum">
              <a:rPr lang="en-IN" smtClean="0"/>
              <a:t>‹#›</a:t>
            </a:fld>
            <a:endParaRPr lang="en-IN"/>
          </a:p>
        </p:txBody>
      </p:sp>
    </p:spTree>
    <p:extLst>
      <p:ext uri="{BB962C8B-B14F-4D97-AF65-F5344CB8AC3E}">
        <p14:creationId xmlns:p14="http://schemas.microsoft.com/office/powerpoint/2010/main" val="8026314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p:txBody>
          <a:bodyPr/>
          <a:lstStyle/>
          <a:p>
            <a:r>
              <a:rPr lang="en-US" dirty="0"/>
              <a:t>DSA</a:t>
            </a:r>
            <a:br>
              <a:rPr lang="en-US" dirty="0"/>
            </a:br>
            <a:endParaRPr lang="en-IN" dirty="0"/>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562100" y="3796748"/>
            <a:ext cx="9070848" cy="1342515"/>
          </a:xfrm>
        </p:spPr>
        <p:txBody>
          <a:bodyPr>
            <a:normAutofit/>
          </a:bodyPr>
          <a:lstStyle/>
          <a:p>
            <a:r>
              <a:rPr lang="en-US" dirty="0"/>
              <a:t>CB.SC.U4CSE23620 NIKSHITH</a:t>
            </a:r>
          </a:p>
          <a:p>
            <a:r>
              <a:rPr lang="en-US" dirty="0"/>
              <a:t>CB.SC.U4CSE23646 ARUN KUMAR</a:t>
            </a:r>
          </a:p>
          <a:p>
            <a:r>
              <a:rPr lang="en-US" dirty="0"/>
              <a:t>CB.SC.U4CSE23625 CHAKRESWAR</a:t>
            </a:r>
          </a:p>
          <a:p>
            <a:r>
              <a:rPr lang="en-US" dirty="0"/>
              <a:t>CB.SC.U4CSE23619 HEMANTH GUDI</a:t>
            </a:r>
          </a:p>
          <a:p>
            <a:endParaRPr lang="en-IN" dirty="0"/>
          </a:p>
        </p:txBody>
      </p:sp>
    </p:spTree>
    <p:extLst>
      <p:ext uri="{BB962C8B-B14F-4D97-AF65-F5344CB8AC3E}">
        <p14:creationId xmlns:p14="http://schemas.microsoft.com/office/powerpoint/2010/main" val="129596089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p:txBody>
          <a:bodyPr/>
          <a:lstStyle/>
          <a:p>
            <a:r>
              <a:rPr lang="en-US" sz="5400" b="1" u="sng" dirty="0">
                <a:latin typeface="Aptos" panose="020B0004020202020204" pitchFamily="34" charset="0"/>
              </a:rPr>
              <a:t>TITLE</a:t>
            </a:r>
            <a:br>
              <a:rPr lang="en-US" dirty="0"/>
            </a:br>
            <a:endParaRPr lang="en-IN" dirty="0"/>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562100" y="3796748"/>
            <a:ext cx="9070848" cy="1342515"/>
          </a:xfrm>
        </p:spPr>
        <p:txBody>
          <a:bodyPr>
            <a:normAutofit/>
          </a:bodyPr>
          <a:lstStyle/>
          <a:p>
            <a:r>
              <a:rPr lang="en-IN" sz="1600" dirty="0"/>
              <a:t>&gt;&gt; Efficient Text Document Indexing</a:t>
            </a:r>
            <a:endParaRPr lang="en-IN" dirty="0"/>
          </a:p>
        </p:txBody>
      </p:sp>
    </p:spTree>
    <p:extLst>
      <p:ext uri="{BB962C8B-B14F-4D97-AF65-F5344CB8AC3E}">
        <p14:creationId xmlns:p14="http://schemas.microsoft.com/office/powerpoint/2010/main" val="173604871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p:txBody>
          <a:bodyPr/>
          <a:lstStyle/>
          <a:p>
            <a:r>
              <a:rPr lang="en-US" sz="4000" b="1" u="sng" dirty="0"/>
              <a:t>PROBLEM STATEMENT</a:t>
            </a:r>
            <a:br>
              <a:rPr lang="en-US" dirty="0"/>
            </a:br>
            <a:endParaRPr lang="en-IN" dirty="0"/>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562100" y="3796748"/>
            <a:ext cx="9070848" cy="1342515"/>
          </a:xfrm>
        </p:spPr>
        <p:txBody>
          <a:bodyPr>
            <a:normAutofit/>
          </a:bodyPr>
          <a:lstStyle/>
          <a:p>
            <a:r>
              <a:rPr lang="en-US" dirty="0"/>
              <a:t>Build a solution for indexing and searching through large text documents, ensuring minimal retrieval time.</a:t>
            </a:r>
            <a:endParaRPr lang="en-IN" dirty="0"/>
          </a:p>
          <a:p>
            <a:endParaRPr lang="en-IN" dirty="0"/>
          </a:p>
        </p:txBody>
      </p:sp>
    </p:spTree>
    <p:extLst>
      <p:ext uri="{BB962C8B-B14F-4D97-AF65-F5344CB8AC3E}">
        <p14:creationId xmlns:p14="http://schemas.microsoft.com/office/powerpoint/2010/main" val="365815740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a:xfrm>
            <a:off x="1674352" y="1311965"/>
            <a:ext cx="9068586" cy="2299251"/>
          </a:xfrm>
        </p:spPr>
        <p:txBody>
          <a:bodyPr/>
          <a:lstStyle/>
          <a:p>
            <a:r>
              <a:rPr lang="en-US" sz="2400" b="1" u="sng" dirty="0">
                <a:latin typeface="Algerian" panose="04020705040A02060702" pitchFamily="82" charset="0"/>
              </a:rPr>
              <a:t>NEED OF THE PROBLEM STATEMENT</a:t>
            </a:r>
            <a:r>
              <a:rPr lang="en-US" sz="2000" dirty="0"/>
              <a:t>:</a:t>
            </a:r>
            <a:br>
              <a:rPr lang="en-US" sz="2000" dirty="0"/>
            </a:br>
            <a:endParaRPr lang="en-IN" sz="2000" dirty="0"/>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564361" y="2955234"/>
            <a:ext cx="9068586" cy="2179983"/>
          </a:xfrm>
        </p:spPr>
        <p:txBody>
          <a:bodyPr>
            <a:normAutofit/>
          </a:bodyPr>
          <a:lstStyle/>
          <a:p>
            <a:r>
              <a:rPr lang="en-US" dirty="0"/>
              <a:t>In today's world of abundant data, businesses, researchers, and organizations often deal with large volumes of textual information. From legal documents and academic papers to digital books and business reports, the ability to quickly search and retrieve relevant information is essential. As the size of these text repositories grows, traditional search mechanisms become inefficient, leading to longer retrieval times and poor user experience.</a:t>
            </a:r>
            <a:endParaRPr lang="en-IN" dirty="0"/>
          </a:p>
        </p:txBody>
      </p:sp>
    </p:spTree>
    <p:extLst>
      <p:ext uri="{BB962C8B-B14F-4D97-AF65-F5344CB8AC3E}">
        <p14:creationId xmlns:p14="http://schemas.microsoft.com/office/powerpoint/2010/main" val="389128451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a:xfrm>
            <a:off x="1674352" y="1311965"/>
            <a:ext cx="9068586" cy="2299251"/>
          </a:xfrm>
        </p:spPr>
        <p:txBody>
          <a:bodyPr/>
          <a:lstStyle/>
          <a:p>
            <a:r>
              <a:rPr lang="en-US" sz="2000" b="1" u="sng" dirty="0">
                <a:latin typeface="Algerian" panose="04020705040A02060702" pitchFamily="82" charset="0"/>
              </a:rPr>
              <a:t>ADVANCED DATA STRUCTURES USED:</a:t>
            </a:r>
            <a:br>
              <a:rPr lang="en-US" sz="2000" b="1" u="sng" dirty="0">
                <a:latin typeface="Algerian" panose="04020705040A02060702" pitchFamily="82" charset="0"/>
              </a:rPr>
            </a:br>
            <a:endParaRPr lang="en-IN" sz="2000" b="1" u="sng" dirty="0">
              <a:latin typeface="Algerian" panose="04020705040A02060702" pitchFamily="82" charset="0"/>
            </a:endParaRPr>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564361" y="2955234"/>
            <a:ext cx="9068586" cy="2179983"/>
          </a:xfrm>
        </p:spPr>
        <p:txBody>
          <a:bodyPr>
            <a:normAutofit/>
          </a:bodyPr>
          <a:lstStyle/>
          <a:p>
            <a:r>
              <a:rPr lang="en-US" sz="1800" dirty="0"/>
              <a:t>1)Suffix tree [for fast text searches]</a:t>
            </a:r>
          </a:p>
          <a:p>
            <a:r>
              <a:rPr lang="en-US" sz="1800" dirty="0"/>
              <a:t>2) Red – black tree [for managing the indexed data]</a:t>
            </a:r>
          </a:p>
          <a:p>
            <a:r>
              <a:rPr lang="en-US" sz="1800" dirty="0"/>
              <a:t>3)Inverted index</a:t>
            </a:r>
          </a:p>
          <a:p>
            <a:r>
              <a:rPr lang="en-US" sz="1800" dirty="0"/>
              <a:t>4)</a:t>
            </a:r>
            <a:r>
              <a:rPr lang="en-US" sz="1800" dirty="0" err="1"/>
              <a:t>Trie</a:t>
            </a:r>
            <a:r>
              <a:rPr lang="en-US" sz="1800" dirty="0"/>
              <a:t> [prefix tree]</a:t>
            </a:r>
          </a:p>
          <a:p>
            <a:endParaRPr lang="en-IN" dirty="0"/>
          </a:p>
        </p:txBody>
      </p:sp>
    </p:spTree>
    <p:extLst>
      <p:ext uri="{BB962C8B-B14F-4D97-AF65-F5344CB8AC3E}">
        <p14:creationId xmlns:p14="http://schemas.microsoft.com/office/powerpoint/2010/main" val="185845269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C18C-2CD3-C77F-B134-0F91B0611000}"/>
              </a:ext>
            </a:extLst>
          </p:cNvPr>
          <p:cNvSpPr>
            <a:spLocks noGrp="1"/>
          </p:cNvSpPr>
          <p:nvPr>
            <p:ph type="ctrTitle"/>
          </p:nvPr>
        </p:nvSpPr>
        <p:spPr>
          <a:xfrm>
            <a:off x="1674352" y="1311965"/>
            <a:ext cx="9068586" cy="2299251"/>
          </a:xfrm>
        </p:spPr>
        <p:txBody>
          <a:bodyPr/>
          <a:lstStyle/>
          <a:p>
            <a:r>
              <a:rPr lang="en-US" sz="2000" b="1" u="sng" dirty="0">
                <a:latin typeface="Algerian" panose="04020705040A02060702" pitchFamily="82" charset="0"/>
              </a:rPr>
              <a:t>USES OF THE ADS IN THE PROBLEM STATEMENT</a:t>
            </a:r>
            <a:r>
              <a:rPr lang="en-US" sz="2000" b="1" dirty="0"/>
              <a:t>:</a:t>
            </a:r>
            <a:br>
              <a:rPr lang="en-US" sz="2000" b="1" dirty="0"/>
            </a:br>
            <a:endParaRPr lang="en-IN" sz="2000" b="1" dirty="0"/>
          </a:p>
        </p:txBody>
      </p:sp>
      <p:sp>
        <p:nvSpPr>
          <p:cNvPr id="3" name="Subtitle 2">
            <a:extLst>
              <a:ext uri="{FF2B5EF4-FFF2-40B4-BE49-F238E27FC236}">
                <a16:creationId xmlns:a16="http://schemas.microsoft.com/office/drawing/2014/main" id="{E81FEF43-208F-FD81-5123-635822A61197}"/>
              </a:ext>
            </a:extLst>
          </p:cNvPr>
          <p:cNvSpPr>
            <a:spLocks noGrp="1"/>
          </p:cNvSpPr>
          <p:nvPr>
            <p:ph type="subTitle" idx="1"/>
          </p:nvPr>
        </p:nvSpPr>
        <p:spPr>
          <a:xfrm>
            <a:off x="1674352" y="2521224"/>
            <a:ext cx="9068586" cy="2826028"/>
          </a:xfrm>
        </p:spPr>
        <p:txBody>
          <a:bodyPr>
            <a:normAutofit fontScale="85000" lnSpcReduction="10000"/>
          </a:bodyPr>
          <a:lstStyle/>
          <a:p>
            <a:r>
              <a:rPr lang="en-US" sz="1800" b="1" dirty="0"/>
              <a:t>1)Suffix tree </a:t>
            </a:r>
            <a:r>
              <a:rPr lang="en-US" sz="1800" dirty="0"/>
              <a:t>:</a:t>
            </a:r>
          </a:p>
          <a:p>
            <a:endParaRPr lang="en-US" sz="1800" dirty="0"/>
          </a:p>
          <a:p>
            <a:r>
              <a:rPr lang="en-US" sz="1400" u="sng" dirty="0"/>
              <a:t>Description</a:t>
            </a:r>
            <a:r>
              <a:rPr lang="en-US" sz="1400" dirty="0"/>
              <a:t>: </a:t>
            </a:r>
            <a:r>
              <a:rPr lang="en-US" dirty="0"/>
              <a:t>Data structures used to efficiently find substrings and perform pattern matching</a:t>
            </a:r>
          </a:p>
          <a:p>
            <a:pPr>
              <a:buFont typeface="Arial" panose="020B0604020202020204" pitchFamily="34" charset="0"/>
              <a:buChar char="•"/>
            </a:pPr>
            <a:r>
              <a:rPr lang="en-US" sz="1400" b="1" dirty="0"/>
              <a:t>Advanced Features:</a:t>
            </a:r>
          </a:p>
          <a:p>
            <a:pPr>
              <a:buFont typeface="Arial" panose="020B0604020202020204" pitchFamily="34" charset="0"/>
              <a:buChar char="•"/>
            </a:pPr>
            <a:r>
              <a:rPr lang="en-US" sz="1400" u="sng" dirty="0"/>
              <a:t>Suffix Tree</a:t>
            </a:r>
            <a:r>
              <a:rPr lang="en-US" sz="1400" dirty="0"/>
              <a:t>: </a:t>
            </a:r>
            <a:r>
              <a:rPr lang="en-US" sz="1700" dirty="0"/>
              <a:t>Allows for efficient substring queries, longest common substring searches &amp;more</a:t>
            </a:r>
            <a:r>
              <a:rPr lang="en-US" sz="1400" dirty="0"/>
              <a:t>.</a:t>
            </a:r>
          </a:p>
          <a:p>
            <a:pPr>
              <a:buFont typeface="Arial" panose="020B0604020202020204" pitchFamily="34" charset="0"/>
              <a:buChar char="•"/>
            </a:pPr>
            <a:r>
              <a:rPr lang="en-US" sz="1400" u="sng" dirty="0"/>
              <a:t>Suffix Array</a:t>
            </a:r>
            <a:r>
              <a:rPr lang="en-US" sz="1700" dirty="0"/>
              <a:t>: Provides a compact and memory-efficient alternative for similar operations.</a:t>
            </a:r>
          </a:p>
          <a:p>
            <a:pPr>
              <a:buFont typeface="Arial" panose="020B0604020202020204" pitchFamily="34" charset="0"/>
              <a:buChar char="•"/>
            </a:pPr>
            <a:endParaRPr lang="en-US" sz="1700" dirty="0"/>
          </a:p>
          <a:p>
            <a:r>
              <a:rPr lang="en-US" b="1" dirty="0"/>
              <a:t>2) RED – BLACK TREE:</a:t>
            </a:r>
          </a:p>
          <a:p>
            <a:endParaRPr lang="en-US" b="1" dirty="0"/>
          </a:p>
          <a:p>
            <a:r>
              <a:rPr lang="en-US" sz="1400" u="sng" dirty="0"/>
              <a:t>Description:</a:t>
            </a:r>
            <a:r>
              <a:rPr lang="en-US" sz="1600" u="sng" dirty="0"/>
              <a:t>  </a:t>
            </a:r>
            <a:r>
              <a:rPr lang="en-US" sz="1500" dirty="0"/>
              <a:t>A Red-Black Tree is a self-balancing binary search tree where each node contains an extra bit for color (red or black) to ensure the tree remains approximately balanced, providing good performance for insertion, deletion, and search operations</a:t>
            </a:r>
            <a:r>
              <a:rPr lang="en-US" sz="1600" dirty="0"/>
              <a:t>.</a:t>
            </a:r>
            <a:endParaRPr lang="en-US" sz="1400" b="1" dirty="0"/>
          </a:p>
          <a:p>
            <a:endParaRPr lang="en-US" sz="1800" dirty="0"/>
          </a:p>
          <a:p>
            <a:endParaRPr lang="en-US" sz="1800" dirty="0"/>
          </a:p>
          <a:p>
            <a:endParaRPr lang="en-IN" dirty="0"/>
          </a:p>
        </p:txBody>
      </p:sp>
    </p:spTree>
    <p:extLst>
      <p:ext uri="{BB962C8B-B14F-4D97-AF65-F5344CB8AC3E}">
        <p14:creationId xmlns:p14="http://schemas.microsoft.com/office/powerpoint/2010/main" val="359041602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B56053-50A0-8A04-B7B8-F00C89E51573}"/>
              </a:ext>
            </a:extLst>
          </p:cNvPr>
          <p:cNvSpPr>
            <a:spLocks noGrp="1"/>
          </p:cNvSpPr>
          <p:nvPr>
            <p:ph type="ctrTitle"/>
          </p:nvPr>
        </p:nvSpPr>
        <p:spPr/>
        <p:txBody>
          <a:bodyPr/>
          <a:lstStyle/>
          <a:p>
            <a:r>
              <a:rPr lang="en-US" sz="1600" b="1" dirty="0"/>
              <a:t>3)INVERTED INDEX:</a:t>
            </a:r>
            <a:br>
              <a:rPr lang="en-US" sz="1600" b="1" dirty="0"/>
            </a:br>
            <a:br>
              <a:rPr lang="en-US" sz="1600" b="1" dirty="0"/>
            </a:br>
            <a:r>
              <a:rPr lang="en-US" sz="1400" u="sng" dirty="0">
                <a:latin typeface="Algerian" panose="04020705040A02060702" pitchFamily="82" charset="0"/>
              </a:rPr>
              <a:t>Description</a:t>
            </a:r>
            <a:r>
              <a:rPr lang="en-US" sz="1400" dirty="0"/>
              <a:t>: An index that maps terms to their occurrences in a collection of documents.</a:t>
            </a:r>
            <a:br>
              <a:rPr lang="en-US" sz="1400" dirty="0"/>
            </a:br>
            <a:br>
              <a:rPr lang="en-US" sz="1400" dirty="0"/>
            </a:br>
            <a:r>
              <a:rPr lang="en-US" sz="1400" u="sng" dirty="0">
                <a:latin typeface="Algerian" panose="04020705040A02060702" pitchFamily="82" charset="0"/>
              </a:rPr>
              <a:t>Advanced Features</a:t>
            </a:r>
            <a:r>
              <a:rPr lang="en-US" sz="1400" dirty="0"/>
              <a:t>: Can be optimized with postings lists that store term frequencies and document positions to support more complex queries and relevancy scoring</a:t>
            </a:r>
            <a:r>
              <a:rPr lang="en-US" sz="1600" dirty="0"/>
              <a:t>.</a:t>
            </a:r>
            <a:br>
              <a:rPr lang="en-US" sz="1600" dirty="0"/>
            </a:br>
            <a:br>
              <a:rPr lang="en-US" sz="1600" dirty="0"/>
            </a:br>
            <a:endParaRPr lang="en-IN" sz="1400" b="1" dirty="0"/>
          </a:p>
        </p:txBody>
      </p:sp>
      <p:sp>
        <p:nvSpPr>
          <p:cNvPr id="7" name="Subtitle 6">
            <a:extLst>
              <a:ext uri="{FF2B5EF4-FFF2-40B4-BE49-F238E27FC236}">
                <a16:creationId xmlns:a16="http://schemas.microsoft.com/office/drawing/2014/main" id="{62D84D01-1F42-6121-B889-FB549C274BB8}"/>
              </a:ext>
            </a:extLst>
          </p:cNvPr>
          <p:cNvSpPr>
            <a:spLocks noGrp="1"/>
          </p:cNvSpPr>
          <p:nvPr>
            <p:ph type="subTitle" idx="1"/>
          </p:nvPr>
        </p:nvSpPr>
        <p:spPr>
          <a:xfrm>
            <a:off x="1562100" y="3911600"/>
            <a:ext cx="9070848" cy="1319101"/>
          </a:xfrm>
        </p:spPr>
        <p:txBody>
          <a:bodyPr>
            <a:normAutofit fontScale="92500" lnSpcReduction="20000"/>
          </a:bodyPr>
          <a:lstStyle/>
          <a:p>
            <a:r>
              <a:rPr lang="en-US" sz="1700" b="1" dirty="0"/>
              <a:t>4)TRIE(PREFIX TREE):</a:t>
            </a:r>
            <a:br>
              <a:rPr lang="en-US" sz="1800" b="1" dirty="0"/>
            </a:br>
            <a:br>
              <a:rPr lang="en-US" sz="1800" b="1" dirty="0"/>
            </a:br>
            <a:r>
              <a:rPr lang="en-US" sz="1600" u="sng" dirty="0">
                <a:latin typeface="Algerian" panose="04020705040A02060702" pitchFamily="82" charset="0"/>
              </a:rPr>
              <a:t>Description</a:t>
            </a:r>
            <a:r>
              <a:rPr lang="en-US" sz="1600" dirty="0">
                <a:latin typeface="Algerian" panose="04020705040A02060702" pitchFamily="82" charset="0"/>
              </a:rPr>
              <a:t>:</a:t>
            </a:r>
            <a:r>
              <a:rPr lang="en-US" sz="1600" dirty="0"/>
              <a:t> A tree-like data structure that stores strings in a way that allows for efficient prefix-based searches.</a:t>
            </a:r>
            <a:br>
              <a:rPr lang="en-US" sz="1600" dirty="0"/>
            </a:br>
            <a:r>
              <a:rPr lang="en-US" sz="1600" u="sng" dirty="0">
                <a:latin typeface="Algerian" panose="04020705040A02060702" pitchFamily="82" charset="0"/>
              </a:rPr>
              <a:t>Advanced Features</a:t>
            </a:r>
            <a:r>
              <a:rPr lang="en-US" sz="1600" dirty="0"/>
              <a:t>: Useful for autocomplete features, dictionary searches, and efficiently handling large vocabularies.</a:t>
            </a:r>
            <a:endParaRPr lang="en-IN" dirty="0"/>
          </a:p>
        </p:txBody>
      </p:sp>
      <p:sp>
        <p:nvSpPr>
          <p:cNvPr id="9" name="TextBox 8">
            <a:extLst>
              <a:ext uri="{FF2B5EF4-FFF2-40B4-BE49-F238E27FC236}">
                <a16:creationId xmlns:a16="http://schemas.microsoft.com/office/drawing/2014/main" id="{3DE70478-4B70-1843-7CCE-90C92B10A4C0}"/>
              </a:ext>
            </a:extLst>
          </p:cNvPr>
          <p:cNvSpPr txBox="1"/>
          <p:nvPr/>
        </p:nvSpPr>
        <p:spPr>
          <a:xfrm>
            <a:off x="3345543" y="2091264"/>
            <a:ext cx="6349999" cy="707886"/>
          </a:xfrm>
          <a:prstGeom prst="rect">
            <a:avLst/>
          </a:prstGeom>
          <a:noFill/>
        </p:spPr>
        <p:txBody>
          <a:bodyPr wrap="square">
            <a:spAutoFit/>
          </a:bodyPr>
          <a:lstStyle/>
          <a:p>
            <a:r>
              <a:rPr lang="en-US" sz="2000" b="1" u="sng" dirty="0">
                <a:latin typeface="Algerian" panose="04020705040A02060702" pitchFamily="82" charset="0"/>
              </a:rPr>
              <a:t>USES OF THE ADS IN THE PROBLEM STATEMENT</a:t>
            </a:r>
            <a:r>
              <a:rPr lang="en-US" sz="2000" b="1" dirty="0"/>
              <a:t>:</a:t>
            </a:r>
            <a:br>
              <a:rPr lang="en-US" sz="2000" b="1" dirty="0"/>
            </a:br>
            <a:endParaRPr lang="en-IN" sz="2000" dirty="0"/>
          </a:p>
        </p:txBody>
      </p:sp>
    </p:spTree>
    <p:extLst>
      <p:ext uri="{BB962C8B-B14F-4D97-AF65-F5344CB8AC3E}">
        <p14:creationId xmlns:p14="http://schemas.microsoft.com/office/powerpoint/2010/main" val="283434613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B56053-50A0-8A04-B7B8-F00C89E51573}"/>
              </a:ext>
            </a:extLst>
          </p:cNvPr>
          <p:cNvSpPr>
            <a:spLocks noGrp="1"/>
          </p:cNvSpPr>
          <p:nvPr>
            <p:ph type="ctrTitle"/>
          </p:nvPr>
        </p:nvSpPr>
        <p:spPr>
          <a:xfrm>
            <a:off x="1561708" y="-190500"/>
            <a:ext cx="9068586" cy="4872563"/>
          </a:xfrm>
        </p:spPr>
        <p:txBody>
          <a:bodyPr/>
          <a:lstStyle/>
          <a:p>
            <a:r>
              <a:rPr lang="en-US" sz="1800" b="1" u="sng" dirty="0">
                <a:latin typeface="Algerian" panose="04020705040A02060702" pitchFamily="82" charset="0"/>
              </a:rPr>
              <a:t>EXPECTED OUTCOME :</a:t>
            </a:r>
            <a:endParaRPr lang="en-IN" sz="1800" b="1" u="sng" dirty="0">
              <a:latin typeface="Algerian" panose="04020705040A02060702" pitchFamily="82" charset="0"/>
            </a:endParaRPr>
          </a:p>
        </p:txBody>
      </p:sp>
      <p:sp>
        <p:nvSpPr>
          <p:cNvPr id="7" name="Subtitle 6">
            <a:extLst>
              <a:ext uri="{FF2B5EF4-FFF2-40B4-BE49-F238E27FC236}">
                <a16:creationId xmlns:a16="http://schemas.microsoft.com/office/drawing/2014/main" id="{62D84D01-1F42-6121-B889-FB549C274BB8}"/>
              </a:ext>
            </a:extLst>
          </p:cNvPr>
          <p:cNvSpPr>
            <a:spLocks noGrp="1"/>
          </p:cNvSpPr>
          <p:nvPr>
            <p:ph type="subTitle" idx="1"/>
          </p:nvPr>
        </p:nvSpPr>
        <p:spPr>
          <a:xfrm>
            <a:off x="1559444" y="2457450"/>
            <a:ext cx="9070848" cy="2803979"/>
          </a:xfrm>
        </p:spPr>
        <p:txBody>
          <a:bodyPr>
            <a:normAutofit fontScale="92500" lnSpcReduction="10000"/>
          </a:bodyPr>
          <a:lstStyle/>
          <a:p>
            <a:pPr marL="342900" indent="-342900">
              <a:buAutoNum type="arabicParenR"/>
            </a:pPr>
            <a:r>
              <a:rPr lang="en-US" b="1" dirty="0"/>
              <a:t>Suffix Tree [For Fast Text Searches]</a:t>
            </a:r>
            <a:r>
              <a:rPr lang="en-US" dirty="0"/>
              <a:t>:</a:t>
            </a:r>
          </a:p>
          <a:p>
            <a:pPr marL="342900" indent="-342900">
              <a:buAutoNum type="arabicParenR"/>
            </a:pPr>
            <a:endParaRPr lang="en-US" dirty="0"/>
          </a:p>
          <a:p>
            <a:pPr>
              <a:buFont typeface="Arial" panose="020B0604020202020204" pitchFamily="34" charset="0"/>
              <a:buChar char="•"/>
            </a:pPr>
            <a:r>
              <a:rPr lang="en-US" b="1" dirty="0"/>
              <a:t>Outcome</a:t>
            </a:r>
            <a:r>
              <a:rPr lang="en-US" dirty="0"/>
              <a:t>: Efficiently support fast substring searches, pattern matching, and queries for exact phrases within large text documents. Suffix trees allow for operations like:</a:t>
            </a:r>
          </a:p>
          <a:p>
            <a:pPr marL="742950" lvl="1" indent="-285750">
              <a:buFont typeface="Arial" panose="020B0604020202020204" pitchFamily="34" charset="0"/>
              <a:buChar char="•"/>
            </a:pPr>
            <a:r>
              <a:rPr lang="en-US" b="1" dirty="0"/>
              <a:t>Substring Search</a:t>
            </a:r>
            <a:r>
              <a:rPr lang="en-US" dirty="0"/>
              <a:t>: Quickly find all occurrences of a substring within a document</a:t>
            </a:r>
          </a:p>
          <a:p>
            <a:pPr marL="742950" lvl="1" indent="-285750">
              <a:buFont typeface="Arial" panose="020B0604020202020204" pitchFamily="34" charset="0"/>
              <a:buChar char="•"/>
            </a:pPr>
            <a:endParaRPr lang="en-US" dirty="0"/>
          </a:p>
          <a:p>
            <a:r>
              <a:rPr lang="en-US" b="1" dirty="0"/>
              <a:t>2)Red-Black Tree [For Managing Indexed Data]</a:t>
            </a:r>
            <a:r>
              <a:rPr lang="en-US" dirty="0"/>
              <a:t>:</a:t>
            </a:r>
          </a:p>
          <a:p>
            <a:endParaRPr lang="en-US" dirty="0"/>
          </a:p>
          <a:p>
            <a:pPr>
              <a:buFont typeface="Arial" panose="020B0604020202020204" pitchFamily="34" charset="0"/>
              <a:buChar char="•"/>
            </a:pPr>
            <a:r>
              <a:rPr lang="en-US" b="1" dirty="0"/>
              <a:t>Outcome</a:t>
            </a:r>
            <a:r>
              <a:rPr lang="en-US" dirty="0"/>
              <a:t>: Maintain a balanced and sorted structure for managing indexed data, allowing for:</a:t>
            </a:r>
          </a:p>
          <a:p>
            <a:pPr marL="742950" lvl="1" indent="-285750">
              <a:buFont typeface="Arial" panose="020B0604020202020204" pitchFamily="34" charset="0"/>
              <a:buChar char="•"/>
            </a:pPr>
            <a:r>
              <a:rPr lang="en-US" b="1" dirty="0"/>
              <a:t>Dynamic Updates</a:t>
            </a:r>
            <a:r>
              <a:rPr lang="en-US" dirty="0"/>
              <a:t>: Efficient insertion and deletion operations with balanced performance..</a:t>
            </a:r>
          </a:p>
          <a:p>
            <a:pPr marL="742950" lvl="1" indent="-285750">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338958453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B56053-50A0-8A04-B7B8-F00C89E51573}"/>
              </a:ext>
            </a:extLst>
          </p:cNvPr>
          <p:cNvSpPr>
            <a:spLocks noGrp="1"/>
          </p:cNvSpPr>
          <p:nvPr>
            <p:ph type="ctrTitle"/>
          </p:nvPr>
        </p:nvSpPr>
        <p:spPr>
          <a:xfrm>
            <a:off x="1561708" y="-190500"/>
            <a:ext cx="9068586" cy="4872563"/>
          </a:xfrm>
        </p:spPr>
        <p:txBody>
          <a:bodyPr/>
          <a:lstStyle/>
          <a:p>
            <a:r>
              <a:rPr lang="en-US" sz="1800" b="1" u="sng" dirty="0">
                <a:latin typeface="Algerian" panose="04020705040A02060702" pitchFamily="82" charset="0"/>
              </a:rPr>
              <a:t>EXPECTED OUTCOME :</a:t>
            </a:r>
            <a:endParaRPr lang="en-IN" sz="1800" b="1" dirty="0"/>
          </a:p>
        </p:txBody>
      </p:sp>
      <p:sp>
        <p:nvSpPr>
          <p:cNvPr id="7" name="Subtitle 6">
            <a:extLst>
              <a:ext uri="{FF2B5EF4-FFF2-40B4-BE49-F238E27FC236}">
                <a16:creationId xmlns:a16="http://schemas.microsoft.com/office/drawing/2014/main" id="{62D84D01-1F42-6121-B889-FB549C274BB8}"/>
              </a:ext>
            </a:extLst>
          </p:cNvPr>
          <p:cNvSpPr>
            <a:spLocks noGrp="1"/>
          </p:cNvSpPr>
          <p:nvPr>
            <p:ph type="subTitle" idx="1"/>
          </p:nvPr>
        </p:nvSpPr>
        <p:spPr>
          <a:xfrm>
            <a:off x="1559444" y="2457450"/>
            <a:ext cx="9070848" cy="2803979"/>
          </a:xfrm>
        </p:spPr>
        <p:txBody>
          <a:bodyPr>
            <a:normAutofit fontScale="92500" lnSpcReduction="20000"/>
          </a:bodyPr>
          <a:lstStyle/>
          <a:p>
            <a:r>
              <a:rPr lang="en-US" b="1" dirty="0"/>
              <a:t>3)Inverted Index</a:t>
            </a:r>
            <a:r>
              <a:rPr lang="en-US" dirty="0"/>
              <a:t>:</a:t>
            </a:r>
          </a:p>
          <a:p>
            <a:endParaRPr lang="en-US" dirty="0"/>
          </a:p>
          <a:p>
            <a:pPr>
              <a:buFont typeface="Arial" panose="020B0604020202020204" pitchFamily="34" charset="0"/>
              <a:buChar char="•"/>
            </a:pPr>
            <a:r>
              <a:rPr lang="en-US" b="1" dirty="0"/>
              <a:t>Outcome</a:t>
            </a:r>
            <a:r>
              <a:rPr lang="en-US" dirty="0"/>
              <a:t>: Provide fast and efficient full-text search capabilities by mapping terms to their occurrences in documents, supporting:</a:t>
            </a:r>
          </a:p>
          <a:p>
            <a:pPr>
              <a:buFont typeface="Arial" panose="020B0604020202020204" pitchFamily="34" charset="0"/>
              <a:buChar char="•"/>
            </a:pPr>
            <a:r>
              <a:rPr lang="en-US" b="1" dirty="0"/>
              <a:t>Phrase Searches</a:t>
            </a:r>
            <a:r>
              <a:rPr lang="en-US" dirty="0"/>
              <a:t>: Locate documents containing specific phrases by combining multiple terms in the index.</a:t>
            </a:r>
          </a:p>
          <a:p>
            <a:pPr>
              <a:buFont typeface="Arial" panose="020B0604020202020204" pitchFamily="34" charset="0"/>
              <a:buChar char="•"/>
            </a:pPr>
            <a:endParaRPr lang="en-US" dirty="0"/>
          </a:p>
          <a:p>
            <a:r>
              <a:rPr lang="en-US" b="1" dirty="0"/>
              <a:t>4)</a:t>
            </a:r>
            <a:r>
              <a:rPr lang="en-US" b="1" dirty="0" err="1"/>
              <a:t>Trie</a:t>
            </a:r>
            <a:r>
              <a:rPr lang="en-US" b="1" dirty="0"/>
              <a:t> [Prefix Tree]</a:t>
            </a:r>
            <a:r>
              <a:rPr lang="en-US" dirty="0"/>
              <a:t>:</a:t>
            </a:r>
          </a:p>
          <a:p>
            <a:endParaRPr lang="en-US" dirty="0"/>
          </a:p>
          <a:p>
            <a:pPr>
              <a:buFont typeface="Arial" panose="020B0604020202020204" pitchFamily="34" charset="0"/>
              <a:buChar char="•"/>
            </a:pPr>
            <a:r>
              <a:rPr lang="en-US" b="1" dirty="0"/>
              <a:t>Outcome</a:t>
            </a:r>
            <a:r>
              <a:rPr lang="en-US" dirty="0"/>
              <a:t>: Enable efficient prefix-based searches and autocompletion features, providing:</a:t>
            </a:r>
          </a:p>
          <a:p>
            <a:pPr marL="742950" lvl="1" indent="-285750">
              <a:buFont typeface="Arial" panose="020B0604020202020204" pitchFamily="34" charset="0"/>
              <a:buChar char="•"/>
            </a:pPr>
            <a:r>
              <a:rPr lang="en-US" b="1" dirty="0"/>
              <a:t>Prefix Searches</a:t>
            </a:r>
            <a:r>
              <a:rPr lang="en-US" dirty="0"/>
              <a:t>: Quickly find all terms that start with a given prefix, which is useful for search autocompletion.</a:t>
            </a:r>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66998750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62D84D01-1F42-6121-B889-FB549C274BB8}"/>
              </a:ext>
            </a:extLst>
          </p:cNvPr>
          <p:cNvSpPr>
            <a:spLocks noGrp="1"/>
          </p:cNvSpPr>
          <p:nvPr>
            <p:ph type="subTitle" idx="1"/>
          </p:nvPr>
        </p:nvSpPr>
        <p:spPr>
          <a:xfrm>
            <a:off x="1559444" y="2457450"/>
            <a:ext cx="9070848" cy="2803979"/>
          </a:xfrm>
        </p:spPr>
        <p:txBody>
          <a:bodyPr>
            <a:normAutofit/>
          </a:bodyPr>
          <a:lstStyle/>
          <a:p>
            <a:r>
              <a:rPr lang="en-US" sz="9600" b="1" u="sng" dirty="0">
                <a:latin typeface="Bradley Hand ITC" panose="03070402050302030203" pitchFamily="66" charset="0"/>
              </a:rPr>
              <a:t>THANK YOU </a:t>
            </a:r>
            <a:endParaRPr lang="en-IN" sz="9600" b="1" u="sng" dirty="0">
              <a:latin typeface="Bradley Hand ITC" panose="03070402050302030203" pitchFamily="66" charset="0"/>
            </a:endParaRPr>
          </a:p>
        </p:txBody>
      </p:sp>
    </p:spTree>
    <p:extLst>
      <p:ext uri="{BB962C8B-B14F-4D97-AF65-F5344CB8AC3E}">
        <p14:creationId xmlns:p14="http://schemas.microsoft.com/office/powerpoint/2010/main" val="358013558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62</TotalTime>
  <Words>570</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Algerian</vt:lpstr>
      <vt:lpstr>Aptos</vt:lpstr>
      <vt:lpstr>Arial</vt:lpstr>
      <vt:lpstr>Bradley Hand ITC</vt:lpstr>
      <vt:lpstr>Century Gothic</vt:lpstr>
      <vt:lpstr>Garamond</vt:lpstr>
      <vt:lpstr>Savon</vt:lpstr>
      <vt:lpstr>DSA </vt:lpstr>
      <vt:lpstr>TITLE </vt:lpstr>
      <vt:lpstr>PROBLEM STATEMENT </vt:lpstr>
      <vt:lpstr>NEED OF THE PROBLEM STATEMENT: </vt:lpstr>
      <vt:lpstr>ADVANCED DATA STRUCTURES USED: </vt:lpstr>
      <vt:lpstr>USES OF THE ADS IN THE PROBLEM STATEMENT: </vt:lpstr>
      <vt:lpstr>3)INVERTED INDEX:  Description: An index that maps terms to their occurrences in a collection of documents.  Advanced Features: Can be optimized with postings lists that store term frequencies and document positions to support more complex queries and relevancy scoring.  </vt:lpstr>
      <vt:lpstr>EXPECTED OUTCOME :</vt:lpstr>
      <vt:lpstr>EXPECTED OUTCOME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nikshith gurram</dc:creator>
  <cp:lastModifiedBy>nikshith gurram</cp:lastModifiedBy>
  <cp:revision>1</cp:revision>
  <dcterms:created xsi:type="dcterms:W3CDTF">2024-09-10T16:57:41Z</dcterms:created>
  <dcterms:modified xsi:type="dcterms:W3CDTF">2024-09-10T17:59:44Z</dcterms:modified>
</cp:coreProperties>
</file>